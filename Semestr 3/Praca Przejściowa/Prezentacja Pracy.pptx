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1"/>
  </p:notesMasterIdLst>
  <p:sldIdLst>
    <p:sldId id="256" r:id="rId2"/>
    <p:sldId id="257" r:id="rId3"/>
    <p:sldId id="271" r:id="rId4"/>
    <p:sldId id="258" r:id="rId5"/>
    <p:sldId id="272" r:id="rId6"/>
    <p:sldId id="273" r:id="rId7"/>
    <p:sldId id="270" r:id="rId8"/>
    <p:sldId id="261" r:id="rId9"/>
    <p:sldId id="265" r:id="rId10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619" autoAdjust="0"/>
  </p:normalViewPr>
  <p:slideViewPr>
    <p:cSldViewPr snapToGrid="0">
      <p:cViewPr varScale="1">
        <p:scale>
          <a:sx n="65" d="100"/>
          <a:sy n="65" d="100"/>
        </p:scale>
        <p:origin x="129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71BC6C-4B4A-4541-87B7-0301BDFE5B86}" type="datetimeFigureOut">
              <a:rPr lang="pl-PL" smtClean="0"/>
              <a:t>20.11.2025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091BA-204C-4C80-AB7A-191F620FF16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35241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1091BA-204C-4C80-AB7A-191F620FF16F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261638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wybór systemów: </a:t>
            </a:r>
            <a:r>
              <a:rPr lang="pl-PL" b="1" dirty="0"/>
              <a:t>SQL Server, Oracle, </a:t>
            </a:r>
            <a:r>
              <a:rPr lang="pl-PL" b="1" dirty="0" err="1"/>
              <a:t>PostgreSQL</a:t>
            </a:r>
            <a:r>
              <a:rPr lang="pl-PL" b="1" dirty="0"/>
              <a:t>, </a:t>
            </a:r>
            <a:r>
              <a:rPr lang="pl-PL" b="1" dirty="0" err="1"/>
              <a:t>MongoDB</a:t>
            </a:r>
            <a:r>
              <a:rPr lang="pl-PL" dirty="0"/>
              <a:t>,</a:t>
            </a:r>
          </a:p>
          <a:p>
            <a:r>
              <a:rPr lang="pl-PL" dirty="0"/>
              <a:t>przygotowanie identycznych zestawów danych o różnej skali (mała, średnia, duża baza),</a:t>
            </a:r>
          </a:p>
          <a:p>
            <a:r>
              <a:rPr lang="pl-PL" dirty="0"/>
              <a:t>przygotowanie zestawu zapytań testowych: odczyt, zapis, aktualizacja, agregacja, JOIN, </a:t>
            </a:r>
            <a:r>
              <a:rPr lang="pl-PL" dirty="0" err="1"/>
              <a:t>pipeline</a:t>
            </a:r>
            <a:r>
              <a:rPr lang="pl-PL" dirty="0"/>
              <a:t>, itd.,</a:t>
            </a:r>
          </a:p>
          <a:p>
            <a:r>
              <a:rPr lang="pl-PL" dirty="0"/>
              <a:t>testy w dwóch wariantach:</a:t>
            </a:r>
            <a:br>
              <a:rPr lang="pl-PL" dirty="0"/>
            </a:br>
            <a:r>
              <a:rPr lang="pl-PL" dirty="0"/>
              <a:t>✔️ bez zabezpieczeń</a:t>
            </a:r>
            <a:br>
              <a:rPr lang="pl-PL" dirty="0"/>
            </a:br>
            <a:r>
              <a:rPr lang="pl-PL" dirty="0"/>
              <a:t>✔️ z zabezpieczeniami (szyfrowanie, maskowanie, role, RLS, audyt)</a:t>
            </a:r>
          </a:p>
          <a:p>
            <a:r>
              <a:rPr lang="pl-PL" dirty="0"/>
              <a:t>analiza wyników przy użyciu narzędzi monitoringu i logów,</a:t>
            </a:r>
          </a:p>
          <a:p>
            <a:r>
              <a:rPr lang="pl-PL" dirty="0"/>
              <a:t>opracowanie wniosków i rekomendacji.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091BA-204C-4C80-AB7A-191F620FF16F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52413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1091BA-204C-4C80-AB7A-191F620FF16F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44636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3CB15-333E-450F-947C-C80B5DE457BA}" type="datetime1">
              <a:rPr lang="pl-PL" smtClean="0"/>
              <a:t>20.11.2025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95DFC-B7F5-4663-A452-C59B783576ED}" type="slidenum">
              <a:rPr lang="pl-PL" smtClean="0"/>
              <a:t>‹#›</a:t>
            </a:fld>
            <a:endParaRPr lang="pl-PL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567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0DB1F-AA95-4C22-BFA0-464935364FF4}" type="datetime1">
              <a:rPr lang="pl-PL" smtClean="0"/>
              <a:t>20.11.2025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95DFC-B7F5-4663-A452-C59B783576E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92491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AB4D9-C3F0-4F4C-92D7-796AC7FE8FA8}" type="datetime1">
              <a:rPr lang="pl-PL" smtClean="0"/>
              <a:t>20.11.2025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95DFC-B7F5-4663-A452-C59B783576ED}" type="slidenum">
              <a:rPr lang="pl-PL" smtClean="0"/>
              <a:t>‹#›</a:t>
            </a:fld>
            <a:endParaRPr lang="pl-PL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156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D41DF-2611-4B86-9942-87F5DEDB61CA}" type="datetime1">
              <a:rPr lang="pl-PL" smtClean="0"/>
              <a:t>20.11.2025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95DFC-B7F5-4663-A452-C59B783576E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44296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E58A-C072-49DC-8C6F-DD6C3CC04AFD}" type="datetime1">
              <a:rPr lang="pl-PL" smtClean="0"/>
              <a:t>20.11.2025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95DFC-B7F5-4663-A452-C59B783576E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7357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1A69F-C82D-4606-8005-5203626945D6}" type="datetime1">
              <a:rPr lang="pl-PL" smtClean="0"/>
              <a:t>20.11.2025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95DFC-B7F5-4663-A452-C59B783576E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88347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5A607-C589-4800-9F3A-E8D6612EC159}" type="datetime1">
              <a:rPr lang="pl-PL" smtClean="0"/>
              <a:t>20.11.2025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95DFC-B7F5-4663-A452-C59B783576E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3657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3BF5567-5B93-48EF-AD38-143A70556E72}" type="datetime1">
              <a:rPr lang="pl-PL" smtClean="0"/>
              <a:t>20.11.2025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795DFC-B7F5-4663-A452-C59B783576E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19572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2B36-BDE8-4F26-82A0-231C25BE046B}" type="datetime1">
              <a:rPr lang="pl-PL" smtClean="0"/>
              <a:t>20.11.2025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95DFC-B7F5-4663-A452-C59B783576E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91567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9C1-D23A-4B24-9A99-6B9802BF7499}" type="datetime1">
              <a:rPr lang="pl-PL" smtClean="0"/>
              <a:t>20.11.2025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95DFC-B7F5-4663-A452-C59B783576E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1737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E8C0F-8D45-4A81-97BE-F8B80368AE42}" type="datetime1">
              <a:rPr lang="pl-PL" smtClean="0"/>
              <a:t>20.11.2025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95DFC-B7F5-4663-A452-C59B783576E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09068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E7CEC31-770E-42E4-A32A-D37B78A4CE48}" type="datetime1">
              <a:rPr lang="pl-PL" smtClean="0"/>
              <a:t>20.11.2025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1795DFC-B7F5-4663-A452-C59B783576ED}" type="slidenum">
              <a:rPr lang="pl-PL" smtClean="0"/>
              <a:t>‹#›</a:t>
            </a:fld>
            <a:endParaRPr lang="pl-PL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938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097280" y="1961146"/>
            <a:ext cx="10058400" cy="2363965"/>
          </a:xfrm>
        </p:spPr>
        <p:txBody>
          <a:bodyPr>
            <a:noAutofit/>
          </a:bodyPr>
          <a:lstStyle/>
          <a:p>
            <a:pPr algn="ctr"/>
            <a:r>
              <a:rPr lang="pl-PL" sz="6000" dirty="0"/>
              <a:t>Analiza mechanizmów bezpieczeństwa w bazach danych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097280" y="4494140"/>
            <a:ext cx="4714584" cy="403324"/>
          </a:xfrm>
        </p:spPr>
        <p:txBody>
          <a:bodyPr>
            <a:normAutofit/>
          </a:bodyPr>
          <a:lstStyle/>
          <a:p>
            <a:r>
              <a:rPr lang="pl-PL" sz="1400" dirty="0"/>
              <a:t>Promotor: dr inż. JOANNA KOLAŃSKA-PŁUSKA</a:t>
            </a:r>
          </a:p>
          <a:p>
            <a:endParaRPr lang="pl-PL" sz="1400" dirty="0"/>
          </a:p>
        </p:txBody>
      </p:sp>
      <p:pic>
        <p:nvPicPr>
          <p:cNvPr id="4" name="Picture 2" descr="Wydział Budownictwa i Architektury - Politechnika Opolska">
            <a:extLst>
              <a:ext uri="{FF2B5EF4-FFF2-40B4-BE49-F238E27FC236}">
                <a16:creationId xmlns:a16="http://schemas.microsoft.com/office/drawing/2014/main" id="{3FDD260B-59F6-46B1-95AA-64B26DF91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81" y="234106"/>
            <a:ext cx="3672408" cy="78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EBAB9FC7-D8E0-4748-BB21-9EAB94BF9F86}"/>
              </a:ext>
            </a:extLst>
          </p:cNvPr>
          <p:cNvSpPr txBox="1"/>
          <p:nvPr/>
        </p:nvSpPr>
        <p:spPr>
          <a:xfrm>
            <a:off x="2907710" y="1227120"/>
            <a:ext cx="6437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>
                <a:latin typeface="Times New Roman" pitchFamily="18" charset="0"/>
                <a:cs typeface="Times New Roman" pitchFamily="18" charset="0"/>
              </a:rPr>
              <a:t>KIERUNEK: INFORMATYKA</a:t>
            </a:r>
          </a:p>
          <a:p>
            <a:pPr algn="ctr"/>
            <a:r>
              <a:rPr lang="pl-PL" dirty="0">
                <a:latin typeface="Times New Roman" pitchFamily="18" charset="0"/>
                <a:cs typeface="Times New Roman" pitchFamily="18" charset="0"/>
              </a:rPr>
              <a:t>SPECJALNOŚĆ: WYTWARZANIE OPROGRAMOWANIA</a:t>
            </a:r>
          </a:p>
        </p:txBody>
      </p:sp>
      <p:sp>
        <p:nvSpPr>
          <p:cNvPr id="8" name="Podtytuł 2"/>
          <p:cNvSpPr txBox="1">
            <a:spLocks/>
          </p:cNvSpPr>
          <p:nvPr/>
        </p:nvSpPr>
        <p:spPr>
          <a:xfrm>
            <a:off x="6886876" y="4500501"/>
            <a:ext cx="4268804" cy="28239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l-PL" sz="1400" dirty="0" err="1"/>
              <a:t>WykonaŁ</a:t>
            </a:r>
            <a:r>
              <a:rPr lang="pl-PL" sz="1400" dirty="0"/>
              <a:t>: Dawid garncarek</a:t>
            </a:r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95DFC-B7F5-4663-A452-C59B783576ED}" type="slidenum">
              <a:rPr lang="pl-PL" smtClean="0"/>
              <a:t>1</a:t>
            </a:fld>
            <a:endParaRPr lang="pl-PL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34B48957-B5FF-62B2-D798-A1E22ACA6023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1278" y="128789"/>
            <a:ext cx="2680159" cy="9939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0018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WSTĘP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097280" y="1845734"/>
            <a:ext cx="5062888" cy="4023360"/>
          </a:xfrm>
        </p:spPr>
        <p:txBody>
          <a:bodyPr/>
          <a:lstStyle/>
          <a:p>
            <a:pPr marL="0" indent="0">
              <a:buNone/>
            </a:pPr>
            <a:r>
              <a:rPr lang="pl-PL" b="1" dirty="0"/>
              <a:t>Dlaczego bezpieczeństwo baz danych jest ważne?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l-PL" dirty="0"/>
              <a:t>Bazy danych to kluczowy element infrastruktury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l-PL" dirty="0"/>
              <a:t>Rosnąca liczba incydentów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l-PL" dirty="0"/>
              <a:t>Wzrost wymagań prawnych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l-PL" dirty="0"/>
              <a:t>Nowe modele przechowywania danych</a:t>
            </a: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95DFC-B7F5-4663-A452-C59B783576ED}" type="slidenum">
              <a:rPr lang="pl-PL" smtClean="0"/>
              <a:t>2</a:t>
            </a:fld>
            <a:endParaRPr lang="pl-PL"/>
          </a:p>
        </p:txBody>
      </p:sp>
      <p:pic>
        <p:nvPicPr>
          <p:cNvPr id="5" name="Obraz 4" descr="Obraz zawierający w pomieszczeniu, półka&#10;&#10;Zawartość wygenerowana przez AI może być niepoprawna.">
            <a:extLst>
              <a:ext uri="{FF2B5EF4-FFF2-40B4-BE49-F238E27FC236}">
                <a16:creationId xmlns:a16="http://schemas.microsoft.com/office/drawing/2014/main" id="{10410194-D3B2-CF49-4FFD-8659B59684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689" y="2019235"/>
            <a:ext cx="4506031" cy="2305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637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4F507E-99A0-3689-E1D9-9B8C253E1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WSTĘP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C6947EF-2430-81B2-0278-D6C8B1FEC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135858" cy="4023360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None/>
            </a:pPr>
            <a:r>
              <a:rPr lang="pl-PL" b="1" dirty="0"/>
              <a:t>Przykładowe mechanizmy ochrony w bazach danych: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l-PL" dirty="0"/>
              <a:t>Szyfrowanie danych</a:t>
            </a:r>
          </a:p>
          <a:p>
            <a:pPr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l-PL" dirty="0"/>
              <a:t>Maskowanie danych</a:t>
            </a:r>
          </a:p>
          <a:p>
            <a:pPr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l-PL" dirty="0"/>
              <a:t>Kontrola dostępu</a:t>
            </a:r>
          </a:p>
          <a:p>
            <a:pPr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l-PL" dirty="0"/>
              <a:t>Uwierzytelnianie</a:t>
            </a:r>
          </a:p>
          <a:p>
            <a:pPr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l-PL" dirty="0"/>
              <a:t>Audyt i monitorowanie</a:t>
            </a:r>
          </a:p>
          <a:p>
            <a:r>
              <a:rPr lang="pl-PL" dirty="0"/>
              <a:t>Różne systemy DBMS implementują te mechanizmy inaczej — wpływa to na ich wydajność i funkcjonowanie.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047EE61-6CC1-008B-2FCE-6F1C9759D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95DFC-B7F5-4663-A452-C59B783576ED}" type="slidenum">
              <a:rPr lang="pl-PL" smtClean="0"/>
              <a:t>3</a:t>
            </a:fld>
            <a:endParaRPr lang="pl-PL"/>
          </a:p>
        </p:txBody>
      </p:sp>
      <p:pic>
        <p:nvPicPr>
          <p:cNvPr id="6" name="Obraz 5" descr="Obraz zawierający tekst, krąg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8F0C4731-C35E-6273-7A4E-A203D6C97B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3815" y="2009192"/>
            <a:ext cx="3414165" cy="300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784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Cel i zakres pracy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/>
              <a:t>Cel pracy:</a:t>
            </a:r>
          </a:p>
          <a:p>
            <a:r>
              <a:rPr lang="pl-PL" dirty="0"/>
              <a:t>Przeprowadzenie analizy porównawczej wpływu zastosowania różnych mechanizmów bezpieczeństwa na wydajność i działanie wybranych systemów baz danych.</a:t>
            </a:r>
          </a:p>
          <a:p>
            <a:r>
              <a:rPr lang="pl-PL" b="1" dirty="0"/>
              <a:t>Zakres pracy: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l-PL" dirty="0"/>
              <a:t>Porównanie relacyjnych i nierelacyjnych DBMS pod kątem bezpieczeństwa,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l-PL" dirty="0"/>
              <a:t>Zbadanie wpływu szyfrowania, maskowania i kontroli dostępu na wydajność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l-PL" dirty="0"/>
              <a:t>Analiza kosztów zabezpieczeń przy różnych wolumenach danych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l-PL" dirty="0"/>
              <a:t>Ocena stabilności i </a:t>
            </a:r>
            <a:r>
              <a:rPr lang="pl-PL" dirty="0" err="1"/>
              <a:t>zasobożerności</a:t>
            </a:r>
            <a:r>
              <a:rPr lang="pl-PL" dirty="0"/>
              <a:t> systemów przy aktywnych zabezpieczeniach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l-PL" dirty="0"/>
              <a:t>Przygotowanie rekomendacji dotyczących wyboru technologii bazodanowej.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95DFC-B7F5-4663-A452-C59B783576ED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88247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DB82C7E-1DBB-87D1-EAA8-8FA670219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METODYKA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74DF9C7-F94B-2B02-BEA2-CA74EEEDC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8914228" cy="4023360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l-PL" dirty="0"/>
              <a:t>Implementacja testowych baz danych w każdym DBMS.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l-PL" dirty="0"/>
              <a:t>Automatyzacja testów zapytań (np. C# / </a:t>
            </a:r>
            <a:r>
              <a:rPr lang="pl-PL" dirty="0" err="1"/>
              <a:t>Python</a:t>
            </a:r>
            <a:r>
              <a:rPr lang="pl-PL" dirty="0"/>
              <a:t> / SQL scripts).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l-PL" dirty="0"/>
              <a:t>Wykorzystanie narzędzi analitycznych: </a:t>
            </a:r>
          </a:p>
          <a:p>
            <a:pPr lvl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pl-PL" dirty="0"/>
              <a:t>SQL Server Profiler, Query </a:t>
            </a:r>
            <a:r>
              <a:rPr lang="pl-PL" dirty="0" err="1"/>
              <a:t>Store</a:t>
            </a:r>
            <a:r>
              <a:rPr lang="pl-PL" dirty="0"/>
              <a:t> </a:t>
            </a:r>
          </a:p>
          <a:p>
            <a:pPr lvl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pl-PL" dirty="0"/>
              <a:t>Oracle AWR / </a:t>
            </a:r>
            <a:r>
              <a:rPr lang="pl-PL" dirty="0" err="1"/>
              <a:t>Statspack</a:t>
            </a:r>
            <a:r>
              <a:rPr lang="pl-PL" dirty="0"/>
              <a:t> </a:t>
            </a:r>
          </a:p>
          <a:p>
            <a:pPr lvl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pl-PL" dirty="0" err="1"/>
              <a:t>PostgreSQL</a:t>
            </a:r>
            <a:r>
              <a:rPr lang="pl-PL" dirty="0"/>
              <a:t> </a:t>
            </a:r>
            <a:r>
              <a:rPr lang="pl-PL" dirty="0" err="1"/>
              <a:t>pg_stat_statements</a:t>
            </a:r>
            <a:r>
              <a:rPr lang="pl-PL" dirty="0"/>
              <a:t>, EXPLAIN ANALYZE </a:t>
            </a:r>
          </a:p>
          <a:p>
            <a:pPr lvl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pl-PL" dirty="0" err="1"/>
              <a:t>MongoDB</a:t>
            </a:r>
            <a:r>
              <a:rPr lang="pl-PL" dirty="0"/>
              <a:t> Atlas Monitor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l-PL" dirty="0"/>
              <a:t>Zbieranie danych: czasy wykonania, odczyty dyskowe, użycie procesora, blokady.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l-PL" dirty="0"/>
              <a:t>Analiza statystyczna danych i wizualizacja wyników.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8B327D19-5C38-3354-3A97-FE9B58E79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95DFC-B7F5-4663-A452-C59B783576ED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52819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D1D1210-3BD3-4C6E-AD1B-07BFB5ABD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4947F56-9DBB-4FF9-ABF2-5B7B3C7B5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6E21A4B-9996-44C9-AE8B-9B156A6CD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CAA95A4F-6851-483E-8C86-31AA85F75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A2B641E-1C0C-2FDA-82BB-133FE879F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HARMONOGRAM PRAC</a:t>
            </a:r>
          </a:p>
        </p:txBody>
      </p:sp>
      <p:pic>
        <p:nvPicPr>
          <p:cNvPr id="7" name="Symbol zastępczy zawartości 6" descr="Obraz zawierający tekst, zrzut ekranu, numer, Równolegle&#10;&#10;Zawartość wygenerowana przez AI może być niepoprawna.">
            <a:extLst>
              <a:ext uri="{FF2B5EF4-FFF2-40B4-BE49-F238E27FC236}">
                <a16:creationId xmlns:a16="http://schemas.microsoft.com/office/drawing/2014/main" id="{22808CDC-A697-F30A-052D-692F74BFD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57" y="311326"/>
            <a:ext cx="8101653" cy="5711664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E67B80F-DC96-4AB3-BCAC-07B698F6F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102C23A-5B68-4151-A35E-69055BD51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16C535E-8900-4C12-9B34-681C17AD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9C943EB-6498-04EE-2791-E28DEC1B6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1795DFC-B7F5-4663-A452-C59B783576ED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06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Podsumowanie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097280" y="1845734"/>
            <a:ext cx="3673823" cy="4023360"/>
          </a:xfrm>
        </p:spPr>
        <p:txBody>
          <a:bodyPr/>
          <a:lstStyle/>
          <a:p>
            <a:pPr marL="0" indent="0">
              <a:buNone/>
            </a:pPr>
            <a:r>
              <a:rPr lang="pl-PL" dirty="0"/>
              <a:t>Praca bada zależność: </a:t>
            </a:r>
            <a:r>
              <a:rPr lang="pl-PL" b="1" dirty="0"/>
              <a:t>bezpieczeństwo vs wydajność</a:t>
            </a:r>
            <a:r>
              <a:rPr lang="pl-PL" dirty="0"/>
              <a:t>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l-PL" dirty="0"/>
              <a:t>Obejmuje różne modele danych: SQL + </a:t>
            </a:r>
            <a:r>
              <a:rPr lang="pl-PL" dirty="0" err="1"/>
              <a:t>NoSQL</a:t>
            </a:r>
            <a:r>
              <a:rPr lang="pl-PL" dirty="0"/>
              <a:t>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l-PL" dirty="0"/>
              <a:t>Zawiera eksperymenty, benchmarki i analizę obciążenia.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l-PL" dirty="0"/>
              <a:t>Wyniki pozwolą określić, które DBMS najlepiej radzą sobie pod względem wydajności po zastosowaniu mechanizmów bezpieczeństwa.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95DFC-B7F5-4663-A452-C59B783576ED}" type="slidenum">
              <a:rPr lang="pl-PL" smtClean="0"/>
              <a:t>7</a:t>
            </a:fld>
            <a:endParaRPr lang="pl-PL"/>
          </a:p>
        </p:txBody>
      </p:sp>
      <p:pic>
        <p:nvPicPr>
          <p:cNvPr id="9" name="Obraz 8" descr="Obraz zawierający wyroby z metalu, zamek, kłódka, tekst&#10;&#10;Zawartość wygenerowana przez AI może być niepoprawna.">
            <a:extLst>
              <a:ext uri="{FF2B5EF4-FFF2-40B4-BE49-F238E27FC236}">
                <a16:creationId xmlns:a16="http://schemas.microsoft.com/office/drawing/2014/main" id="{BCCA4EC9-FE88-DC6C-08B0-D246DBA8FE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133" y="2074251"/>
            <a:ext cx="584835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410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Literatura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idx="1"/>
          </p:nvPr>
        </p:nvSpPr>
        <p:spPr>
          <a:xfrm>
            <a:off x="1097280" y="1838359"/>
            <a:ext cx="4534488" cy="4468656"/>
          </a:xfrm>
        </p:spPr>
        <p:txBody>
          <a:bodyPr>
            <a:normAutofit fontScale="92500" lnSpcReduction="20000"/>
          </a:bodyPr>
          <a:lstStyle/>
          <a:p>
            <a:pPr marL="0" lvl="1" indent="0">
              <a:buClr>
                <a:schemeClr val="tx1">
                  <a:lumMod val="75000"/>
                  <a:lumOff val="25000"/>
                </a:schemeClr>
              </a:buClr>
              <a:buNone/>
            </a:pPr>
            <a:r>
              <a:rPr lang="pl-PL" dirty="0"/>
              <a:t>Książki i publikacje:</a:t>
            </a:r>
          </a:p>
          <a:p>
            <a:pPr marL="342900" lvl="1" indent="-342900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pl-PL" dirty="0"/>
              <a:t>Database system </a:t>
            </a:r>
            <a:r>
              <a:rPr lang="pl-PL" dirty="0" err="1"/>
              <a:t>concepts</a:t>
            </a:r>
            <a:r>
              <a:rPr lang="pl-PL" dirty="0"/>
              <a:t> </a:t>
            </a:r>
            <a:r>
              <a:rPr lang="en-US" dirty="0"/>
              <a:t>by Silberschatz, Korth and Sudarshan</a:t>
            </a:r>
            <a:endParaRPr lang="pl-PL" dirty="0"/>
          </a:p>
          <a:p>
            <a:pPr marL="342900" lvl="1" indent="-342900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pl-PL" dirty="0" err="1"/>
              <a:t>NoSQL</a:t>
            </a:r>
            <a:r>
              <a:rPr lang="pl-PL" dirty="0"/>
              <a:t>, </a:t>
            </a:r>
            <a:r>
              <a:rPr lang="pl-PL" dirty="0" err="1"/>
              <a:t>NewSQL</a:t>
            </a:r>
            <a:r>
              <a:rPr lang="pl-PL" dirty="0"/>
              <a:t> i </a:t>
            </a:r>
            <a:r>
              <a:rPr lang="pl-PL" dirty="0" err="1"/>
              <a:t>BigData</a:t>
            </a:r>
            <a:r>
              <a:rPr lang="pl-PL" dirty="0"/>
              <a:t>. Bazy danych następnej generacji</a:t>
            </a:r>
          </a:p>
          <a:p>
            <a:pPr marL="342900" lvl="1" indent="-342900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pl-PL" dirty="0"/>
              <a:t>SQL. Zapytania i techniki dla </a:t>
            </a:r>
            <a:r>
              <a:rPr lang="pl-PL" dirty="0" err="1"/>
              <a:t>bazodanowców</a:t>
            </a:r>
            <a:r>
              <a:rPr lang="pl-PL" dirty="0"/>
              <a:t>. Receptury. Wydanie II</a:t>
            </a:r>
          </a:p>
          <a:p>
            <a:pPr marL="0" lvl="1" indent="0">
              <a:buClr>
                <a:schemeClr val="tx1">
                  <a:lumMod val="75000"/>
                  <a:lumOff val="25000"/>
                </a:schemeClr>
              </a:buClr>
              <a:buNone/>
            </a:pPr>
            <a:r>
              <a:rPr lang="pl-PL" dirty="0"/>
              <a:t>Artykuły naukowe:</a:t>
            </a:r>
          </a:p>
          <a:p>
            <a:pPr marL="342900" lvl="1" indent="-342900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en-US" dirty="0"/>
              <a:t>Database Encryption – How to Balance Security with Performance – Ulf T. Mattsson</a:t>
            </a:r>
            <a:endParaRPr lang="pl-PL" dirty="0"/>
          </a:p>
          <a:p>
            <a:pPr marL="342900" lvl="1" indent="-342900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en-US" dirty="0"/>
              <a:t>Database Encryption for Balance Between Performance and Security</a:t>
            </a:r>
            <a:endParaRPr lang="pl-PL" dirty="0"/>
          </a:p>
          <a:p>
            <a:pPr marL="342900" lvl="1" indent="-342900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pl-PL" dirty="0" err="1"/>
              <a:t>PostgreSQL</a:t>
            </a:r>
            <a:r>
              <a:rPr lang="pl-PL" dirty="0"/>
              <a:t> Database </a:t>
            </a:r>
            <a:r>
              <a:rPr lang="pl-PL" dirty="0" err="1"/>
              <a:t>Encryption</a:t>
            </a:r>
            <a:r>
              <a:rPr lang="pl-PL" dirty="0"/>
              <a:t> – Performance </a:t>
            </a:r>
            <a:r>
              <a:rPr lang="pl-PL" dirty="0" err="1"/>
              <a:t>Impacts</a:t>
            </a:r>
            <a:r>
              <a:rPr lang="pl-PL" dirty="0"/>
              <a:t> with Native Database </a:t>
            </a:r>
            <a:r>
              <a:rPr lang="pl-PL" dirty="0" err="1"/>
              <a:t>Encryption</a:t>
            </a:r>
            <a:endParaRPr lang="pl-PL" dirty="0"/>
          </a:p>
          <a:p>
            <a:pPr marL="342900" lvl="1" indent="-342900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en-US" dirty="0"/>
              <a:t>How Does Transparent Data Encryption (TDE) Impact </a:t>
            </a:r>
            <a:r>
              <a:rPr lang="en-US" dirty="0" err="1"/>
              <a:t>TempDB</a:t>
            </a:r>
            <a:r>
              <a:rPr lang="en-US" dirty="0"/>
              <a:t> Databases (SQL Server)</a:t>
            </a:r>
            <a:endParaRPr lang="pl-PL" dirty="0"/>
          </a:p>
          <a:p>
            <a:pPr marL="342900" lvl="1" indent="-342900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en-US" dirty="0"/>
              <a:t>Database Security and Hardening (IJRMEET, 2025</a:t>
            </a:r>
            <a:r>
              <a:rPr lang="pl-PL" dirty="0"/>
              <a:t>)</a:t>
            </a:r>
          </a:p>
          <a:p>
            <a:pPr marL="342900" lvl="1" indent="-342900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endParaRPr lang="pl-PL" dirty="0"/>
          </a:p>
          <a:p>
            <a:pPr marL="342900" lvl="1" indent="-342900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endParaRPr lang="pl-PL" dirty="0"/>
          </a:p>
        </p:txBody>
      </p:sp>
      <p:sp>
        <p:nvSpPr>
          <p:cNvPr id="3" name="Symbol zastępczy numeru slajd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95DFC-B7F5-4663-A452-C59B783576ED}" type="slidenum">
              <a:rPr lang="pl-PL" smtClean="0"/>
              <a:t>8</a:t>
            </a:fld>
            <a:endParaRPr lang="pl-PL"/>
          </a:p>
        </p:txBody>
      </p:sp>
      <p:sp>
        <p:nvSpPr>
          <p:cNvPr id="5" name="Symbol zastępczy zawartości 3">
            <a:extLst>
              <a:ext uri="{FF2B5EF4-FFF2-40B4-BE49-F238E27FC236}">
                <a16:creationId xmlns:a16="http://schemas.microsoft.com/office/drawing/2014/main" id="{42E2BF1F-3F52-0B4E-568A-1CFC622197E8}"/>
              </a:ext>
            </a:extLst>
          </p:cNvPr>
          <p:cNvSpPr txBox="1">
            <a:spLocks/>
          </p:cNvSpPr>
          <p:nvPr/>
        </p:nvSpPr>
        <p:spPr>
          <a:xfrm>
            <a:off x="6560233" y="1838360"/>
            <a:ext cx="4342228" cy="384714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Clr>
                <a:schemeClr val="tx1">
                  <a:lumMod val="75000"/>
                  <a:lumOff val="25000"/>
                </a:schemeClr>
              </a:buClr>
              <a:buNone/>
            </a:pPr>
            <a:r>
              <a:rPr lang="pl-PL" dirty="0"/>
              <a:t>Dokumentacja:</a:t>
            </a:r>
          </a:p>
          <a:p>
            <a:pPr marL="342900" lvl="1" indent="-342900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pl-PL" dirty="0"/>
              <a:t>https://docs.devexpress.com/</a:t>
            </a:r>
          </a:p>
          <a:p>
            <a:pPr marL="342900" lvl="1" indent="-342900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pl-PL" dirty="0"/>
              <a:t>https://www.w3schools.com/</a:t>
            </a:r>
            <a:endParaRPr lang="pl-PL" dirty="0">
              <a:hlinkClick r:id="rId3"/>
            </a:endParaRPr>
          </a:p>
          <a:p>
            <a:pPr marL="342900" lvl="1" indent="-342900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pl-PL" dirty="0"/>
              <a:t>https://github.com/</a:t>
            </a:r>
          </a:p>
          <a:p>
            <a:pPr marL="342900" lvl="1" indent="-342900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pl-PL" dirty="0"/>
              <a:t>https://www.mongodb.com/docs/</a:t>
            </a:r>
          </a:p>
          <a:p>
            <a:pPr marL="342900" lvl="1" indent="-342900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pl-PL" dirty="0"/>
              <a:t>https://docs.oracle.com/en/database/oracle/oracle-database/</a:t>
            </a:r>
          </a:p>
          <a:p>
            <a:pPr marL="342900" lvl="1" indent="-342900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pl-PL" dirty="0"/>
              <a:t>https://www.postgresql.org/docs/</a:t>
            </a:r>
          </a:p>
          <a:p>
            <a:pPr marL="342900" lvl="1" indent="-342900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pl-PL" dirty="0"/>
              <a:t>https://learn.microsoft.com/en-us/sql/relational-databases/security/</a:t>
            </a:r>
          </a:p>
          <a:p>
            <a:pPr marL="342900" lvl="1" indent="-342900"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pl-PL" dirty="0"/>
              <a:t>https://www.datasunrise.com/knowledge-center/database-encryption/</a:t>
            </a:r>
          </a:p>
        </p:txBody>
      </p:sp>
    </p:spTree>
    <p:extLst>
      <p:ext uri="{BB962C8B-B14F-4D97-AF65-F5344CB8AC3E}">
        <p14:creationId xmlns:p14="http://schemas.microsoft.com/office/powerpoint/2010/main" val="232923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ydział Budownictwa i Architektury - Politechnika Opolska">
            <a:extLst>
              <a:ext uri="{FF2B5EF4-FFF2-40B4-BE49-F238E27FC236}">
                <a16:creationId xmlns:a16="http://schemas.microsoft.com/office/drawing/2014/main" id="{3FDD260B-59F6-46B1-95AA-64B26DF91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81" y="234106"/>
            <a:ext cx="3672408" cy="78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ole tekstowe 4"/>
          <p:cNvSpPr txBox="1"/>
          <p:nvPr/>
        </p:nvSpPr>
        <p:spPr>
          <a:xfrm>
            <a:off x="2787445" y="2816941"/>
            <a:ext cx="66810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 (Nagłówki)"/>
              </a:rPr>
              <a:t>Dziękuje za uwagę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95DFC-B7F5-4663-A452-C59B783576ED}" type="slidenum">
              <a:rPr lang="pl-PL" smtClean="0"/>
              <a:t>9</a:t>
            </a:fld>
            <a:endParaRPr lang="pl-PL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28B9B7A7-08FC-CAEF-1219-7BD1E1464E4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6390" y="131486"/>
            <a:ext cx="2680159" cy="9939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85286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cja">
  <a:themeElements>
    <a:clrScheme name="Retrospekcja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kcj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cj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410</TotalTime>
  <Words>547</Words>
  <Application>Microsoft Office PowerPoint</Application>
  <PresentationFormat>Panoramiczny</PresentationFormat>
  <Paragraphs>83</Paragraphs>
  <Slides>9</Slides>
  <Notes>3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Calibri Light (Nagłówki)</vt:lpstr>
      <vt:lpstr>Courier New</vt:lpstr>
      <vt:lpstr>Times New Roman</vt:lpstr>
      <vt:lpstr>Retrospekcja</vt:lpstr>
      <vt:lpstr>Analiza mechanizmów bezpieczeństwa w bazach danych</vt:lpstr>
      <vt:lpstr>WSTĘP</vt:lpstr>
      <vt:lpstr>WSTĘP</vt:lpstr>
      <vt:lpstr>Cel i zakres pracy</vt:lpstr>
      <vt:lpstr>METODYKA</vt:lpstr>
      <vt:lpstr>HARMONOGRAM PRAC</vt:lpstr>
      <vt:lpstr>Podsumowanie</vt:lpstr>
      <vt:lpstr>Literatura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Dawidek</dc:creator>
  <cp:lastModifiedBy>d.garncarek</cp:lastModifiedBy>
  <cp:revision>25</cp:revision>
  <dcterms:created xsi:type="dcterms:W3CDTF">2023-12-14T12:19:50Z</dcterms:created>
  <dcterms:modified xsi:type="dcterms:W3CDTF">2025-11-20T16:22:59Z</dcterms:modified>
</cp:coreProperties>
</file>